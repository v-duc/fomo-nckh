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8" r:id="rId4"/>
    <p:sldId id="263" r:id="rId5"/>
    <p:sldId id="258" r:id="rId6"/>
    <p:sldId id="259" r:id="rId7"/>
    <p:sldId id="260" r:id="rId8"/>
    <p:sldId id="261" r:id="rId9"/>
    <p:sldId id="262" r:id="rId10"/>
    <p:sldId id="267" r:id="rId11"/>
    <p:sldId id="264" r:id="rId12"/>
    <p:sldId id="265" r:id="rId13"/>
    <p:sldId id="266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11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150" y="802299"/>
            <a:ext cx="8634824" cy="2541431"/>
          </a:xfrm>
        </p:spPr>
        <p:txBody>
          <a:bodyPr bIns="0" anchor="b">
            <a:normAutofit/>
          </a:bodyPr>
          <a:lstStyle>
            <a:lvl1pPr algn="l">
              <a:defRPr sz="6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150" y="3531205"/>
            <a:ext cx="8634823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799" b="0" cap="all" baseline="0">
                <a:solidFill>
                  <a:schemeClr val="tx1"/>
                </a:solidFill>
              </a:defRPr>
            </a:lvl1pPr>
            <a:lvl2pPr marL="457063" indent="0" algn="ctr">
              <a:buNone/>
              <a:defRPr sz="17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5871" y="329308"/>
            <a:ext cx="4972620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290" y="798973"/>
            <a:ext cx="810808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150" y="3528542"/>
            <a:ext cx="863482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536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517" y="1847088"/>
            <a:ext cx="960502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751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3860" y="1756130"/>
            <a:ext cx="8640903" cy="1887950"/>
          </a:xfrm>
        </p:spPr>
        <p:txBody>
          <a:bodyPr anchor="b">
            <a:normAutofit/>
          </a:bodyPr>
          <a:lstStyle>
            <a:lvl1pPr algn="l"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3861" y="3806196"/>
            <a:ext cx="8628198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3861" y="3804985"/>
            <a:ext cx="862819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61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8840" y="804890"/>
            <a:ext cx="9603134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6954" y="2010879"/>
            <a:ext cx="464394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2101" y="2017343"/>
            <a:ext cx="464394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517" y="1847088"/>
            <a:ext cx="960502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404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815" y="804164"/>
            <a:ext cx="9605159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6814" y="2019550"/>
            <a:ext cx="464394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199" b="0" cap="all" baseline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6814" y="2824270"/>
            <a:ext cx="464394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0692" y="2023004"/>
            <a:ext cx="464394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199" b="0" cap="all" baseline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0692" y="2821491"/>
            <a:ext cx="464394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517" y="1847088"/>
            <a:ext cx="960502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598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517" y="1847088"/>
            <a:ext cx="960502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357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56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295" y="798973"/>
            <a:ext cx="3272247" cy="2247117"/>
          </a:xfrm>
        </p:spPr>
        <p:txBody>
          <a:bodyPr anchor="b">
            <a:normAutofit/>
          </a:bodyPr>
          <a:lstStyle>
            <a:lvl1pPr algn="l">
              <a:defRPr sz="23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2401" y="798974"/>
            <a:ext cx="6010904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295" y="3205492"/>
            <a:ext cx="3274160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7903" y="3205491"/>
            <a:ext cx="32686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839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5440" y="482171"/>
            <a:ext cx="4073472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0828" y="1129513"/>
            <a:ext cx="5530887" cy="1830584"/>
          </a:xfrm>
        </p:spPr>
        <p:txBody>
          <a:bodyPr anchor="b">
            <a:normAutofit/>
          </a:bodyPr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2274" y="1122543"/>
            <a:ext cx="2790444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9951" y="3145992"/>
            <a:ext cx="5522965" cy="2003742"/>
          </a:xfrm>
        </p:spPr>
        <p:txBody>
          <a:bodyPr>
            <a:normAutofit/>
          </a:bodyPr>
          <a:lstStyle>
            <a:lvl1pPr marL="0" indent="0" algn="l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005" y="5469857"/>
            <a:ext cx="5525912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005" y="318641"/>
            <a:ext cx="5539561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005" y="3143605"/>
            <a:ext cx="552591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257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517" y="1847088"/>
            <a:ext cx="960502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066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6653" y="798974"/>
            <a:ext cx="1615321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296" y="798974"/>
            <a:ext cx="7826791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6653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9007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7"/>
            <a:ext cx="12188825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88825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202" y="804520"/>
            <a:ext cx="9600774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202" y="2015733"/>
            <a:ext cx="9600774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2171" y="330370"/>
            <a:ext cx="3499803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201" y="329308"/>
            <a:ext cx="593728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9935" y="798973"/>
            <a:ext cx="810808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799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88825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554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3199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99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799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3609" y="802299"/>
            <a:ext cx="10032037" cy="2541431"/>
          </a:xfrm>
        </p:spPr>
        <p:txBody>
          <a:bodyPr>
            <a:normAutofit fontScale="90000"/>
          </a:bodyPr>
          <a:lstStyle/>
          <a:p>
            <a:pPr algn="r"/>
            <a:r>
              <a:rPr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Phát</a:t>
            </a:r>
            <a:r>
              <a:rPr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</a:t>
            </a:r>
            <a:r>
              <a:rPr lang="en-US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Ệ</a:t>
            </a:r>
            <a:r>
              <a:rPr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hành</a:t>
            </a:r>
            <a:r>
              <a:rPr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vi FOMO </a:t>
            </a:r>
            <a:r>
              <a:rPr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của</a:t>
            </a:r>
            <a:r>
              <a:rPr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nhà</a:t>
            </a:r>
            <a:r>
              <a:rPr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đầu</a:t>
            </a:r>
            <a:r>
              <a:rPr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tư</a:t>
            </a:r>
            <a:endParaRPr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sv-SE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Proof</a:t>
            </a:r>
            <a:r>
              <a:rPr lang="sv-S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sv-S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concept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CFD792-88DE-14FA-D0CA-B33998762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940" y="4323792"/>
            <a:ext cx="1475132" cy="14471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C84394-A5D3-FEE6-3128-9A712B21AADB}"/>
              </a:ext>
            </a:extLst>
          </p:cNvPr>
          <p:cNvSpPr txBox="1"/>
          <p:nvPr/>
        </p:nvSpPr>
        <p:spPr>
          <a:xfrm>
            <a:off x="9302643" y="5745993"/>
            <a:ext cx="14744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1200" dirty="0">
                <a:latin typeface="Arial" panose="020B0604020202020204" pitchFamily="34" charset="0"/>
                <a:cs typeface="Arial" panose="020B0604020202020204" pitchFamily="34" charset="0"/>
              </a:rPr>
              <a:t>DATCOM Lab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b="1" dirty="0">
                <a:latin typeface="Arial" panose="020B0604020202020204" pitchFamily="34" charset="0"/>
                <a:cs typeface="Arial" panose="020B0604020202020204" pitchFamily="34" charset="0"/>
              </a:rPr>
              <a:t>NỘI DUNG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ướn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g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cận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Pipeline</a:t>
            </a:r>
          </a:p>
          <a:p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PoC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Demo</a:t>
            </a:r>
          </a:p>
          <a:p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ướng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FD116-8647-8B9F-5CF9-A0BD5928A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84ECA-A65F-25CF-E6B6-68CD11FB2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97D67-547F-0DCA-341B-88BD9C0F6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b="1" dirty="0" err="1"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lang="sv-SE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b="1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endParaRPr lang="sv-SE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cá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muộn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vi Fear of Missing Out (FOMO)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endParaRPr lang="sv-SE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hát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FOMO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vi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Cung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tín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rõ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ràng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thíc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h đ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ược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273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EC190-3B7E-055B-8575-EF475435A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5F7C7-A66E-0370-E15E-BD9F83588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ƯỚ</a:t>
            </a:r>
            <a:r>
              <a:rPr lang="sv-SE" b="1" dirty="0">
                <a:latin typeface="Arial" panose="020B0604020202020204" pitchFamily="34" charset="0"/>
                <a:cs typeface="Arial" panose="020B0604020202020204" pitchFamily="34" charset="0"/>
              </a:rPr>
              <a:t>NG TIẾP CẬN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6931E-AD59-00A1-3F55-4DA31CBB5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vi FOMO</a:t>
            </a:r>
          </a:p>
          <a:p>
            <a:pPr lvl="1"/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sv-SE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RandomForest</a:t>
            </a:r>
            <a:r>
              <a:rPr lang="sv-SE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</a:t>
            </a:r>
          </a:p>
          <a:p>
            <a:pPr lvl="1"/>
            <a:r>
              <a:rPr lang="sv-SE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Ensemble</a:t>
            </a:r>
          </a:p>
          <a:p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pipeline (end-to-end)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cung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843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Pipeline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FOMO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1" y="2743200"/>
            <a:ext cx="1695796" cy="79525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b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thô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921619" y="2743200"/>
            <a:ext cx="1695796" cy="79525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b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tr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ng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96595" y="2743200"/>
            <a:ext cx="1695796" cy="79525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784083" y="2743200"/>
            <a:ext cx="1695796" cy="79525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2C6D84F5-5437-20AE-5272-867D226D7DC0}"/>
              </a:ext>
            </a:extLst>
          </p:cNvPr>
          <p:cNvSpPr/>
          <p:nvPr/>
        </p:nvSpPr>
        <p:spPr>
          <a:xfrm>
            <a:off x="5209107" y="2743200"/>
            <a:ext cx="1695796" cy="79525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Gán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nhãn</a:t>
            </a:r>
            <a:b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D1686F07-0E02-36CF-74A5-59A522C6C8F2}"/>
              </a:ext>
            </a:extLst>
          </p:cNvPr>
          <p:cNvSpPr/>
          <p:nvPr/>
        </p:nvSpPr>
        <p:spPr>
          <a:xfrm>
            <a:off x="7496595" y="3832851"/>
            <a:ext cx="1695796" cy="79525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31ABA944-6EF5-7DBA-455E-A70AF8E026D8}"/>
              </a:ext>
            </a:extLst>
          </p:cNvPr>
          <p:cNvSpPr/>
          <p:nvPr/>
        </p:nvSpPr>
        <p:spPr>
          <a:xfrm>
            <a:off x="7496595" y="4922502"/>
            <a:ext cx="1695796" cy="79525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khai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913B93D-0E01-D927-DAC5-2A232A01AEE9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335877" y="3140826"/>
            <a:ext cx="585742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D72BCE8-D90C-C829-11EE-FDB9605DF2E2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4617415" y="3140826"/>
            <a:ext cx="591692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1CC1E54-3B83-ADA9-5C03-AB3091773E4E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>
            <a:off x="6904903" y="3140826"/>
            <a:ext cx="591692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3CB1928-54BF-E7B9-B8D8-203AF71441DD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9192391" y="3140826"/>
            <a:ext cx="591692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0831931-112B-A49D-AE26-EB89E7627989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8344493" y="3538451"/>
            <a:ext cx="0" cy="29440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55061D8-E70F-52F2-7B8C-7657AB87A091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8344493" y="4628102"/>
            <a:ext cx="0" cy="29440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2052EC68-72AF-04FA-C294-8C59973F20F9}"/>
              </a:ext>
            </a:extLst>
          </p:cNvPr>
          <p:cNvCxnSpPr>
            <a:stCxn id="9" idx="3"/>
            <a:endCxn id="6" idx="2"/>
          </p:cNvCxnSpPr>
          <p:nvPr/>
        </p:nvCxnSpPr>
        <p:spPr>
          <a:xfrm flipV="1">
            <a:off x="9192391" y="3538451"/>
            <a:ext cx="1439590" cy="1781677"/>
          </a:xfrm>
          <a:prstGeom prst="bentConnector2">
            <a:avLst/>
          </a:prstGeom>
          <a:ln w="28575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thô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hông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à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ng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iá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đóng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vi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sổ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trượt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5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ngày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sliding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window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/ trading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window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sao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ngày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tục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ủ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ngắn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bắt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FOMO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ủ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dài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Phù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chu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quyết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tuần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b="1" dirty="0">
                <a:latin typeface="Arial" panose="020B0604020202020204" pitchFamily="34" charset="0"/>
                <a:cs typeface="Arial" panose="020B0604020202020204" pitchFamily="34" charset="0"/>
              </a:rPr>
              <a:t>CÁC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ố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v-SE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Tần</a:t>
            </a:r>
            <a:r>
              <a:rPr lang="sv-SE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endParaRPr lang="sv-SE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Khối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ượng</a:t>
            </a:r>
            <a:r>
              <a:rPr lang="sv-SE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sv-SE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endParaRPr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Đuổi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(Price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chasing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): m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gần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đây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Chạy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momentum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Momentum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chasing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đợt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Tín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tiếc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nuối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Regret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indicator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lợi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nhuận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bị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bỏ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lỡ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vi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missing values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FOMO 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score,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từng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trading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window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hỉ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vi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b="1" dirty="0">
                <a:latin typeface="Arial" panose="020B0604020202020204" pitchFamily="34" charset="0"/>
                <a:cs typeface="Arial" panose="020B0604020202020204" pitchFamily="34" charset="0"/>
              </a:rPr>
              <a:t>KẾT QUẢ (1/2)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vi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FOMO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cor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  <a:p>
            <a:pPr lvl="1"/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cậy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Hiển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hân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so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sánh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vi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thích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ED6B4-903A-B309-0D06-A464DF592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DF1CD-E1E7-B981-0920-0F917288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b="1" dirty="0">
                <a:latin typeface="Arial" panose="020B0604020202020204" pitchFamily="34" charset="0"/>
                <a:cs typeface="Arial" panose="020B0604020202020204" pitchFamily="34" charset="0"/>
              </a:rPr>
              <a:t>KẾT QUẢ (2/2)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7F4D8-DBD0-0A85-88D1-A6563D547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PoC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DEMO)</a:t>
            </a:r>
          </a:p>
        </p:txBody>
      </p:sp>
    </p:spTree>
    <p:extLst>
      <p:ext uri="{BB962C8B-B14F-4D97-AF65-F5344CB8AC3E}">
        <p14:creationId xmlns:p14="http://schemas.microsoft.com/office/powerpoint/2010/main" val="710555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973AF-F06A-5B88-DF13-4C69D3BCB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136C-8F2B-854C-7FD9-B63E2F7C2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b="1" dirty="0">
                <a:latin typeface="Arial" panose="020B0604020202020204" pitchFamily="34" charset="0"/>
                <a:cs typeface="Arial" panose="020B0604020202020204" pitchFamily="34" charset="0"/>
              </a:rPr>
              <a:t>NEXT STEPS (1/3)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FA6AF-35CB-6241-6087-082C11C71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tr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ng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Volume-based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Temporal</a:t>
            </a:r>
          </a:p>
          <a:p>
            <a:pPr lvl="1"/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Portfolio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Market sentiment</a:t>
            </a:r>
          </a:p>
          <a:p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trading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window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đ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ộng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Cho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ượng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Multi-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windows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179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42B88-4747-0504-9D9D-F058ADF41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71A2-5E37-B584-24DF-045767AF0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b="1" dirty="0">
                <a:latin typeface="Arial" panose="020B0604020202020204" pitchFamily="34" charset="0"/>
                <a:cs typeface="Arial" panose="020B0604020202020204" pitchFamily="34" charset="0"/>
              </a:rPr>
              <a:t>NEXT STEPS (2/3)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94041-6C5C-3AA1-DED9-38259F109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Nâng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ph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ươ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ng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gán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nhãn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Semi-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Learning</a:t>
            </a:r>
          </a:p>
          <a:p>
            <a:pPr lvl="1"/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Smoothing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Active Learning</a:t>
            </a:r>
          </a:p>
          <a:p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Nâng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Ensemble</a:t>
            </a:r>
          </a:p>
          <a:p>
            <a:pPr lvl="1"/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Hyperparameter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tuning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Hidden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Markov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023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F2885-1164-D6D2-35CE-94D0933F1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0C07B-8EEE-8B7A-115F-99B04D573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b="1" dirty="0">
                <a:latin typeface="Arial" panose="020B0604020202020204" pitchFamily="34" charset="0"/>
                <a:cs typeface="Arial" panose="020B0604020202020204" pitchFamily="34" charset="0"/>
              </a:rPr>
              <a:t>NEXT STEPS (3/3)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6DB0A-538E-E0FE-97DA-B49920D47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Real-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monitoring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&amp; alert</a:t>
            </a:r>
          </a:p>
          <a:p>
            <a:pPr lvl="1"/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Personalized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Insights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Nâng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Outlier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ử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imbalanced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data</a:t>
            </a:r>
          </a:p>
          <a:p>
            <a:pPr lvl="1"/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ự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train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khai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Cung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API</a:t>
            </a:r>
          </a:p>
        </p:txBody>
      </p:sp>
    </p:spTree>
    <p:extLst>
      <p:ext uri="{BB962C8B-B14F-4D97-AF65-F5344CB8AC3E}">
        <p14:creationId xmlns:p14="http://schemas.microsoft.com/office/powerpoint/2010/main" val="183600165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154</TotalTime>
  <Words>542</Words>
  <Application>Microsoft Office PowerPoint</Application>
  <PresentationFormat>Custom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Gill Sans MT</vt:lpstr>
      <vt:lpstr>Gallery</vt:lpstr>
      <vt:lpstr>Phát hiỆn hành vi FOMO của nhà đầu tư</vt:lpstr>
      <vt:lpstr>NỘI DUNG</vt:lpstr>
      <vt:lpstr>Vấn đề &amp; Mục tiêu</vt:lpstr>
      <vt:lpstr>HƯỚNG TIẾP CẬN</vt:lpstr>
      <vt:lpstr>Pipeline phát hiện FOMO</vt:lpstr>
      <vt:lpstr>Xử lý dữ liệu</vt:lpstr>
      <vt:lpstr>CÁC Đặc trưng hành vi</vt:lpstr>
      <vt:lpstr>Mô hình</vt:lpstr>
      <vt:lpstr>KẾT QUẢ (1/2)</vt:lpstr>
      <vt:lpstr>KẾT QUẢ (2/2)</vt:lpstr>
      <vt:lpstr>NEXT STEPS (1/3)</vt:lpstr>
      <vt:lpstr>NEXT STEPS (2/3)</vt:lpstr>
      <vt:lpstr>NEXT STEPS (3/3)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Thang Leduc</dc:creator>
  <cp:keywords/>
  <dc:description>generated using python-pptx</dc:description>
  <cp:lastModifiedBy>Thang Leduc</cp:lastModifiedBy>
  <cp:revision>107</cp:revision>
  <dcterms:created xsi:type="dcterms:W3CDTF">2013-01-27T09:14:16Z</dcterms:created>
  <dcterms:modified xsi:type="dcterms:W3CDTF">2026-02-06T09:05:30Z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623b29-abd1-4de3-a20c-27566d79b7c7_Enabled">
    <vt:lpwstr>true</vt:lpwstr>
  </property>
  <property fmtid="{D5CDD505-2E9C-101B-9397-08002B2CF9AE}" pid="3" name="MSIP_Label_3b623b29-abd1-4de3-a20c-27566d79b7c7_SetDate">
    <vt:lpwstr>2026-02-05T22:10:10Z</vt:lpwstr>
  </property>
  <property fmtid="{D5CDD505-2E9C-101B-9397-08002B2CF9AE}" pid="4" name="MSIP_Label_3b623b29-abd1-4de3-a20c-27566d79b7c7_Method">
    <vt:lpwstr>Standard</vt:lpwstr>
  </property>
  <property fmtid="{D5CDD505-2E9C-101B-9397-08002B2CF9AE}" pid="5" name="MSIP_Label_3b623b29-abd1-4de3-a20c-27566d79b7c7_Name">
    <vt:lpwstr>3b623b29-abd1-4de3-a20c-27566d79b7c7</vt:lpwstr>
  </property>
  <property fmtid="{D5CDD505-2E9C-101B-9397-08002B2CF9AE}" pid="6" name="MSIP_Label_3b623b29-abd1-4de3-a20c-27566d79b7c7_SiteId">
    <vt:lpwstr>cbede638-a3d9-459f-8f4e-24ced73b4e5e</vt:lpwstr>
  </property>
  <property fmtid="{D5CDD505-2E9C-101B-9397-08002B2CF9AE}" pid="7" name="MSIP_Label_3b623b29-abd1-4de3-a20c-27566d79b7c7_ActionId">
    <vt:lpwstr>7c077de6-69ee-4c2a-9faf-a0ec50aa718f</vt:lpwstr>
  </property>
  <property fmtid="{D5CDD505-2E9C-101B-9397-08002B2CF9AE}" pid="8" name="MSIP_Label_3b623b29-abd1-4de3-a20c-27566d79b7c7_ContentBits">
    <vt:lpwstr>0</vt:lpwstr>
  </property>
  <property fmtid="{D5CDD505-2E9C-101B-9397-08002B2CF9AE}" pid="9" name="MSIP_Label_3b623b29-abd1-4de3-a20c-27566d79b7c7_Tag">
    <vt:lpwstr>10, 3, 0, 1</vt:lpwstr>
  </property>
</Properties>
</file>